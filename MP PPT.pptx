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2"/>
  </p:notesMasterIdLst>
  <p:sldIdLst>
    <p:sldId id="256" r:id="rId2"/>
    <p:sldId id="257" r:id="rId3"/>
    <p:sldId id="258" r:id="rId4"/>
    <p:sldId id="259" r:id="rId5"/>
    <p:sldId id="263" r:id="rId6"/>
    <p:sldId id="264" r:id="rId7"/>
    <p:sldId id="269" r:id="rId8"/>
    <p:sldId id="266" r:id="rId9"/>
    <p:sldId id="267" r:id="rId10"/>
    <p:sldId id="268" r:id="rId11"/>
  </p:sldIdLst>
  <p:sldSz cx="18288000" cy="10287000"/>
  <p:notesSz cx="6858000" cy="9144000"/>
  <p:embeddedFontLst>
    <p:embeddedFont>
      <p:font typeface="Canva Sans" panose="020B0604020202020204" charset="0"/>
      <p:regular r:id="rId13"/>
    </p:embeddedFont>
    <p:embeddedFont>
      <p:font typeface="Century Gothic Paneuropean" panose="020B0604020202020204" charset="0"/>
      <p:regular r:id="rId14"/>
    </p:embeddedFont>
    <p:embeddedFont>
      <p:font typeface="Century Gothic Paneuropean Bold" panose="020B0604020202020204" charset="0"/>
      <p:regular r:id="rId15"/>
    </p:embeddedFont>
  </p:embeddedFontLst>
  <p:custShowLst>
    <p:custShow name="Custom Show 1" id="0">
      <p:sldLst>
        <p:sld r:id="rId2"/>
        <p:sld r:id="rId3"/>
        <p:sld r:id="rId4"/>
        <p:sld r:id="rId5"/>
        <p:sld r:id="rId6"/>
        <p:sld r:id="rId7"/>
        <p:sld r:id="rId8"/>
        <p:sld r:id="rId9"/>
        <p:sld r:id="rId10"/>
        <p:sld r:id="rId11"/>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844" autoAdjust="0"/>
    <p:restoredTop sz="94622" autoAdjust="0"/>
  </p:normalViewPr>
  <p:slideViewPr>
    <p:cSldViewPr>
      <p:cViewPr>
        <p:scale>
          <a:sx n="66" d="100"/>
          <a:sy n="66" d="100"/>
        </p:scale>
        <p:origin x="437"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3:54.398"/>
    </inkml:context>
    <inkml:brush xml:id="br0">
      <inkml:brushProperty name="width" value="0.2" units="cm"/>
      <inkml:brushProperty name="height" value="0.2" units="cm"/>
      <inkml:brushProperty name="color" value="#C4FF89"/>
    </inkml:brush>
  </inkml:definitions>
  <inkml:trace contextRef="#ctx0" brushRef="#br0">0 0 24267,'4250'271'0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3:57.564"/>
    </inkml:context>
    <inkml:brush xml:id="br0">
      <inkml:brushProperty name="width" value="0.2" units="cm"/>
      <inkml:brushProperty name="height" value="0.2" units="cm"/>
      <inkml:brushProperty name="color" value="#C4FF89"/>
    </inkml:brush>
  </inkml:definitions>
  <inkml:trace contextRef="#ctx0" brushRef="#br0">1 1 24575,'0'0'-8191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4:00.749"/>
    </inkml:context>
    <inkml:brush xml:id="br0">
      <inkml:brushProperty name="width" value="0.2" units="cm"/>
      <inkml:brushProperty name="height" value="0.2" units="cm"/>
      <inkml:brushProperty name="color" value="#C4FF89"/>
    </inkml:brush>
  </inkml:definitions>
  <inkml:trace contextRef="#ctx0" brushRef="#br0">0 71 24575,'539'-45'0,"-417"29"0,-6 8 0,145 7 0,-113 3 0,1234-2 0,-1247 9 0,3-1 0,-113-6 0,36 5 0,-36-3 0,39 1 0,867-6-1365</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4:11.857"/>
    </inkml:context>
    <inkml:brush xml:id="br0">
      <inkml:brushProperty name="width" value="0.2" units="cm"/>
      <inkml:brushProperty name="height" value="0.2" units="cm"/>
      <inkml:brushProperty name="color" value="#C4FF89"/>
    </inkml:brush>
  </inkml:definitions>
  <inkml:trace contextRef="#ctx0" brushRef="#br0">1 17 24575,'237'-8'0,"-49"1"0,557 6 0,-719 2 0,-1 2 0,1 1 0,46 13 0,-43-9 0,0-1 0,45 3 0,304-7 0,-192-5 0,-65 0 0,131 4 0,-224 1 0,45 11 0,-50-8 0,0-2 0,1 0 0,26-1 0,508-4 0,-538 0 0,36-6 0,20-2 0,-29 7 0,59-8 0,-50 4 0,0 4 0,58 4 0,-19 0 0,-49-2 0,-18 1 0,0-1 0,1-1 0,50-9 0,-65 7-1365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4:15.883"/>
    </inkml:context>
    <inkml:brush xml:id="br0">
      <inkml:brushProperty name="width" value="0.2" units="cm"/>
      <inkml:brushProperty name="height" value="0.2" units="cm"/>
      <inkml:brushProperty name="color" value="#C4FF89"/>
    </inkml:brush>
  </inkml:definitions>
  <inkml:trace contextRef="#ctx0" brushRef="#br0">0 0 24575,'1'50'0,"11"70"0,11 15 0,-23-133 0,1 8 0,0 0 0,1 0 0,0 0 0,6 17 0,-7-25 0,0 0 0,1 0 0,-1 0 0,0 1 0,0-2 0,1 1 0,-1 0 0,1 0 0,0 0 0,0-1 0,-1 1 0,1-1 0,0 1 0,0-1 0,1 0 0,-1 0 0,0 0 0,0 0 0,0 0 0,1 0 0,-1 0 0,0-1 0,1 0 0,4 1 0,188-1 105,-84-2-1575</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4:20.568"/>
    </inkml:context>
    <inkml:brush xml:id="br0">
      <inkml:brushProperty name="width" value="0.2" units="cm"/>
      <inkml:brushProperty name="height" value="0.2" units="cm"/>
      <inkml:brushProperty name="color" value="#C4FF89"/>
    </inkml:brush>
  </inkml:definitions>
  <inkml:trace contextRef="#ctx0" brushRef="#br0">1 86 24549,'4199'-86'0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4:23.678"/>
    </inkml:context>
    <inkml:brush xml:id="br0">
      <inkml:brushProperty name="width" value="0.2" units="cm"/>
      <inkml:brushProperty name="height" value="0.2" units="cm"/>
      <inkml:brushProperty name="color" value="#C4FF89"/>
    </inkml:brush>
  </inkml:definitions>
  <inkml:trace contextRef="#ctx0" brushRef="#br0">0 77 24575,'46'-2'0,"1"-3"0,-1-2 0,48-13 0,-50 9 0,0 2 0,1 3 0,60-3 0,-10 12 0,119-4 0,-213 1-105,1-1 0,0 1 0,0 0 0,0-1 0,-1 1 0,1-1 0,0 0 0,-1 1 0,1-1 0,0 0 0,-1 0 0,3-2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12-01T09:44:25.540"/>
    </inkml:context>
    <inkml:brush xml:id="br0">
      <inkml:brushProperty name="width" value="0.2" units="cm"/>
      <inkml:brushProperty name="height" value="0.2" units="cm"/>
      <inkml:brushProperty name="color" value="#C4FF89"/>
    </inkml:brush>
  </inkml:definitions>
  <inkml:trace contextRef="#ctx0" brushRef="#br0">1 0 24575,'426'0'0,"-397"2"0,0 1 0,0 1 0,39 12 0,-46-9 0,33 15 0,14 5 0,175 56 0,-94-30 0,-107-41-227,1-3-1,-1-1 1,1-3-1,0-1 1,74-3-1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316B7E-D667-43D3-B06E-8E4FB57E44FD}" type="datetimeFigureOut">
              <a:rPr lang="en-IN" smtClean="0"/>
              <a:t>02-12-2025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09E6AB-9ED8-4131-8BA4-CA26D54A8052}" type="slidenum">
              <a:rPr lang="en-IN" smtClean="0"/>
              <a:t>‹#›</a:t>
            </a:fld>
            <a:endParaRPr lang="en-IN"/>
          </a:p>
        </p:txBody>
      </p:sp>
    </p:spTree>
    <p:extLst>
      <p:ext uri="{BB962C8B-B14F-4D97-AF65-F5344CB8AC3E}">
        <p14:creationId xmlns:p14="http://schemas.microsoft.com/office/powerpoint/2010/main" val="24817490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CF3E350-4371-40FA-889F-78D9FBF45E3B}"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FE5CFD4-9880-4F36-8A4B-FDC0A60BFCE2}"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F62FAC-3FCE-44E3-9C04-EC6E4FE92F6E}"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C19BFFE-EDC7-4FD8-BD5D-EC122EC2F061}" type="datetime1">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2DCA67E-69D4-4655-B3B9-A445DB472FF9}" type="datetime1">
              <a:rPr lang="en-US" smtClean="0"/>
              <a:t>12/2/2025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DB68B07-26B5-4903-BAF4-681DD9883DBA}" type="datetime1">
              <a:rPr lang="en-US" smtClean="0"/>
              <a:t>12/2/2025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65104D-ADCD-45A6-BBE5-36064662E44E}" type="datetime1">
              <a:rPr lang="en-US" smtClean="0"/>
              <a:t>12/2/2025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25815E6-BF4A-4AB0-AEF4-DC6CA6CB95C9}" type="datetime1">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373F3D-3637-41E9-B8A1-330B18829661}" type="datetime1">
              <a:rPr lang="en-US" smtClean="0"/>
              <a:t>12/2/2025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EAB28A-9FCC-49F5-BBFE-0AF95DF2387B}"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790B56-3CC2-4A32-8D85-2579ACEB32CC}" type="datetime1">
              <a:rPr lang="en-US" smtClean="0"/>
              <a:t>12/2/2025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E2EA78-1C56-4B8C-B880-1FF4672C877A}" type="datetime1">
              <a:rPr lang="en-US" smtClean="0"/>
              <a:t>12/2/2025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customXml" Target="../ink/ink5.xml"/><Relationship Id="rId18" Type="http://schemas.openxmlformats.org/officeDocument/2006/relationships/image" Target="../media/image12.png"/><Relationship Id="rId3" Type="http://schemas.openxmlformats.org/officeDocument/2006/relationships/image" Target="../media/image4.svg"/><Relationship Id="rId7" Type="http://schemas.openxmlformats.org/officeDocument/2006/relationships/customXml" Target="../ink/ink2.xml"/><Relationship Id="rId12" Type="http://schemas.openxmlformats.org/officeDocument/2006/relationships/image" Target="../media/image9.png"/><Relationship Id="rId17" Type="http://schemas.openxmlformats.org/officeDocument/2006/relationships/customXml" Target="../ink/ink7.xml"/><Relationship Id="rId2" Type="http://schemas.openxmlformats.org/officeDocument/2006/relationships/image" Target="../media/image3.png"/><Relationship Id="rId16" Type="http://schemas.openxmlformats.org/officeDocument/2006/relationships/image" Target="../media/image11.png"/><Relationship Id="rId20"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customXml" Target="../ink/ink4.xml"/><Relationship Id="rId5" Type="http://schemas.openxmlformats.org/officeDocument/2006/relationships/customXml" Target="../ink/ink1.xml"/><Relationship Id="rId15" Type="http://schemas.openxmlformats.org/officeDocument/2006/relationships/customXml" Target="../ink/ink6.xml"/><Relationship Id="rId10" Type="http://schemas.openxmlformats.org/officeDocument/2006/relationships/image" Target="../media/image8.png"/><Relationship Id="rId19" Type="http://schemas.openxmlformats.org/officeDocument/2006/relationships/customXml" Target="../ink/ink8.xml"/><Relationship Id="rId4" Type="http://schemas.openxmlformats.org/officeDocument/2006/relationships/image" Target="../media/image5.jpeg"/><Relationship Id="rId9" Type="http://schemas.openxmlformats.org/officeDocument/2006/relationships/customXml" Target="../ink/ink3.xml"/><Relationship Id="rId1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 Id="rId5" Type="http://schemas.openxmlformats.org/officeDocument/2006/relationships/hyperlink" Target="https://www.kaggle.com/datasets/sumn2u/garbage-classification-v2" TargetMode="External"/><Relationship Id="rId4" Type="http://schemas.openxmlformats.org/officeDocument/2006/relationships/hyperlink" Target="https://www.kaggle.com/datasets/techsash/waste-classification-data"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307977" y="3558863"/>
            <a:ext cx="13672046" cy="1816779"/>
          </a:xfrm>
          <a:prstGeom prst="rect">
            <a:avLst/>
          </a:prstGeom>
        </p:spPr>
        <p:txBody>
          <a:bodyPr wrap="square" lIns="0" tIns="0" rIns="0" bIns="0" rtlCol="0" anchor="t">
            <a:spAutoFit/>
          </a:bodyPr>
          <a:lstStyle/>
          <a:p>
            <a:pPr algn="ctr">
              <a:lnSpc>
                <a:spcPts val="7271"/>
              </a:lnSpc>
            </a:pPr>
            <a:r>
              <a:rPr lang="en-US" sz="5400" b="1" dirty="0">
                <a:solidFill>
                  <a:srgbClr val="000000"/>
                </a:solidFill>
                <a:latin typeface="Century Gothic Paneuropean Bold"/>
                <a:ea typeface="Century Gothic Paneuropean Bold"/>
                <a:cs typeface="Century Gothic Paneuropean Bold"/>
                <a:sym typeface="Century Gothic Paneuropean Bold"/>
              </a:rPr>
              <a:t>A ROBOTIC ARM SOLUTION FOR SMARTER WASTE MANAGEMENT</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IN"/>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22" name="Slide Number Placeholder 21">
            <a:extLst>
              <a:ext uri="{FF2B5EF4-FFF2-40B4-BE49-F238E27FC236}">
                <a16:creationId xmlns:a16="http://schemas.microsoft.com/office/drawing/2014/main" id="{5ECE633A-8981-036B-C2CB-3A8C12A3CE84}"/>
              </a:ext>
            </a:extLst>
          </p:cNvPr>
          <p:cNvSpPr>
            <a:spLocks noGrp="1"/>
          </p:cNvSpPr>
          <p:nvPr>
            <p:ph type="sldNum" sz="quarter" idx="12"/>
          </p:nvPr>
        </p:nvSpPr>
        <p:spPr>
          <a:xfrm>
            <a:off x="14935200" y="9221726"/>
            <a:ext cx="2133600" cy="365125"/>
          </a:xfrm>
        </p:spPr>
        <p:txBody>
          <a:bodyPr/>
          <a:lstStyle/>
          <a:p>
            <a:fld id="{B6F15528-21DE-4FAA-801E-634DDDAF4B2B}" type="slidenum">
              <a:rPr lang="en-US" smtClean="0"/>
              <a:pPr/>
              <a:t>1</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3897632" y="1480478"/>
            <a:ext cx="9983476" cy="877824"/>
          </a:xfrm>
          <a:prstGeom prst="rect">
            <a:avLst/>
          </a:prstGeom>
        </p:spPr>
        <p:txBody>
          <a:bodyPr lIns="0" tIns="0" rIns="0" bIns="0" rtlCol="0" anchor="t">
            <a:spAutoFit/>
          </a:bodyPr>
          <a:lstStyle/>
          <a:p>
            <a:pPr algn="ctr">
              <a:lnSpc>
                <a:spcPts val="7266"/>
              </a:lnSpc>
            </a:pPr>
            <a:r>
              <a:rPr lang="en-US" sz="5190" b="1">
                <a:solidFill>
                  <a:srgbClr val="000000"/>
                </a:solidFill>
                <a:latin typeface="Century Gothic Paneuropean Bold"/>
                <a:ea typeface="Century Gothic Paneuropean Bold"/>
                <a:cs typeface="Century Gothic Paneuropean Bold"/>
                <a:sym typeface="Century Gothic Paneuropean Bold"/>
              </a:rPr>
              <a:t>PROJECT OVERVIEW</a:t>
            </a:r>
          </a:p>
        </p:txBody>
      </p:sp>
      <p:sp>
        <p:nvSpPr>
          <p:cNvPr id="9" name="TextBox 9"/>
          <p:cNvSpPr txBox="1"/>
          <p:nvPr/>
        </p:nvSpPr>
        <p:spPr>
          <a:xfrm>
            <a:off x="2057400" y="3344473"/>
            <a:ext cx="14467471" cy="2468625"/>
          </a:xfrm>
          <a:prstGeom prst="rect">
            <a:avLst/>
          </a:prstGeom>
        </p:spPr>
        <p:txBody>
          <a:bodyPr wrap="square" lIns="0" tIns="0" rIns="0" bIns="0" rtlCol="0" anchor="t">
            <a:spAutoFit/>
          </a:bodyPr>
          <a:lstStyle/>
          <a:p>
            <a:pPr algn="just">
              <a:lnSpc>
                <a:spcPts val="3934"/>
              </a:lnSpc>
            </a:pPr>
            <a:r>
              <a:rPr lang="en-US" sz="2812" dirty="0">
                <a:solidFill>
                  <a:srgbClr val="000000"/>
                </a:solidFill>
                <a:latin typeface="Century Gothic Paneuropean"/>
                <a:ea typeface="Century Gothic Paneuropean"/>
                <a:cs typeface="Century Gothic Paneuropean"/>
                <a:sym typeface="Century Gothic Paneuropean"/>
              </a:rPr>
              <a:t>Our Project Model is an intelligent waste segregation system that combines the power of machine learning and robotics to automate the classification and sorting of Waste. The project aims to address the inefficiencies in traditional waste handling by using an object detection model and a robotic arm to recognize and segregate waste materials such as paper, metal, and glass.</a:t>
            </a: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Slide Number Placeholder 14">
            <a:extLst>
              <a:ext uri="{FF2B5EF4-FFF2-40B4-BE49-F238E27FC236}">
                <a16:creationId xmlns:a16="http://schemas.microsoft.com/office/drawing/2014/main" id="{6F0F1678-BF49-821B-8442-30A5B067E923}"/>
              </a:ext>
            </a:extLst>
          </p:cNvPr>
          <p:cNvSpPr>
            <a:spLocks noGrp="1"/>
          </p:cNvSpPr>
          <p:nvPr>
            <p:ph type="sldNum" sz="quarter" idx="12"/>
          </p:nvPr>
        </p:nvSpPr>
        <p:spPr>
          <a:xfrm>
            <a:off x="15125700" y="9221726"/>
            <a:ext cx="2133600" cy="365125"/>
          </a:xfrm>
        </p:spPr>
        <p:txBody>
          <a:bodyPr/>
          <a:lstStyle/>
          <a:p>
            <a:fld id="{B6F15528-21DE-4FAA-801E-634DDDAF4B2B}" type="slidenum">
              <a:rPr lang="en-US" smtClean="0"/>
              <a:pPr/>
              <a:t>2</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155955" y="1528102"/>
            <a:ext cx="9983476" cy="877824"/>
          </a:xfrm>
          <a:prstGeom prst="rect">
            <a:avLst/>
          </a:prstGeom>
        </p:spPr>
        <p:txBody>
          <a:bodyPr lIns="0" tIns="0" rIns="0" bIns="0" rtlCol="0" anchor="t">
            <a:spAutoFit/>
          </a:bodyPr>
          <a:lstStyle/>
          <a:p>
            <a:pPr algn="ctr">
              <a:lnSpc>
                <a:spcPts val="7266"/>
              </a:lnSpc>
            </a:pPr>
            <a:r>
              <a:rPr lang="en-US" sz="5190" b="1" dirty="0">
                <a:solidFill>
                  <a:srgbClr val="000000"/>
                </a:solidFill>
                <a:latin typeface="Century Gothic Paneuropean Bold"/>
                <a:ea typeface="Century Gothic Paneuropean Bold"/>
                <a:cs typeface="Century Gothic Paneuropean Bold"/>
                <a:sym typeface="Century Gothic Paneuropean Bold"/>
              </a:rPr>
              <a:t>OBJECTIVES</a:t>
            </a:r>
          </a:p>
        </p:txBody>
      </p:sp>
      <p:sp>
        <p:nvSpPr>
          <p:cNvPr id="9" name="TextBox 9"/>
          <p:cNvSpPr txBox="1"/>
          <p:nvPr/>
        </p:nvSpPr>
        <p:spPr>
          <a:xfrm>
            <a:off x="2108879" y="3085173"/>
            <a:ext cx="14610064" cy="2983574"/>
          </a:xfrm>
          <a:prstGeom prst="rect">
            <a:avLst/>
          </a:prstGeom>
        </p:spPr>
        <p:txBody>
          <a:bodyPr lIns="0" tIns="0" rIns="0" bIns="0" rtlCol="0" anchor="t">
            <a:spAutoFit/>
          </a:bodyPr>
          <a:lstStyle/>
          <a:p>
            <a:pPr marL="457200"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To develop a real-time waste classification system using machine learning.</a:t>
            </a:r>
          </a:p>
          <a:p>
            <a:pPr marL="457200"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457200"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To build a robotic arm capable of sorting waste based on the detected class.</a:t>
            </a:r>
          </a:p>
          <a:p>
            <a:pPr marL="457200"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457200" indent="-457200" algn="just">
              <a:lnSpc>
                <a:spcPts val="3937"/>
              </a:lnSpc>
              <a:buFont typeface="Arial" panose="020B0604020202020204" pitchFamily="34" charset="0"/>
              <a:buChar char="•"/>
            </a:pPr>
            <a:r>
              <a:rPr lang="en-US" sz="2810" dirty="0">
                <a:latin typeface="Century Gothic Paneuropean" panose="020B0604020202020204" charset="0"/>
                <a:cs typeface="Century Gothic Paneuropean" panose="020B0604020202020204" charset="0"/>
              </a:rPr>
              <a:t>To provide a cost-effective solution that can be used in offices, and public places for better waste management.</a:t>
            </a:r>
            <a:endParaRPr lang="en-US" sz="2810" dirty="0">
              <a:solidFill>
                <a:srgbClr val="000000"/>
              </a:solidFill>
              <a:latin typeface="Century Gothic Paneuropean" panose="020B0604020202020204" charset="0"/>
              <a:ea typeface="Century Gothic Paneuropean"/>
              <a:cs typeface="Century Gothic Paneuropean" panose="020B0604020202020204" charset="0"/>
              <a:sym typeface="Century Gothic Paneuropean"/>
            </a:endParaRP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Slide Number Placeholder 14">
            <a:extLst>
              <a:ext uri="{FF2B5EF4-FFF2-40B4-BE49-F238E27FC236}">
                <a16:creationId xmlns:a16="http://schemas.microsoft.com/office/drawing/2014/main" id="{F36FCCCB-F6BA-3373-F38E-34DDB9583FA2}"/>
              </a:ext>
            </a:extLst>
          </p:cNvPr>
          <p:cNvSpPr>
            <a:spLocks noGrp="1"/>
          </p:cNvSpPr>
          <p:nvPr>
            <p:ph type="sldNum" sz="quarter" idx="12"/>
          </p:nvPr>
        </p:nvSpPr>
        <p:spPr>
          <a:xfrm>
            <a:off x="15125700" y="9183825"/>
            <a:ext cx="2133600" cy="365125"/>
          </a:xfrm>
        </p:spPr>
        <p:txBody>
          <a:bodyPr/>
          <a:lstStyle/>
          <a:p>
            <a:fld id="{B6F15528-21DE-4FAA-801E-634DDDAF4B2B}" type="slidenum">
              <a:rPr lang="en-US" smtClean="0"/>
              <a:pPr/>
              <a:t>3</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4152262" y="1261665"/>
            <a:ext cx="9983476" cy="873701"/>
          </a:xfrm>
          <a:prstGeom prst="rect">
            <a:avLst/>
          </a:prstGeom>
        </p:spPr>
        <p:txBody>
          <a:bodyPr lIns="0" tIns="0" rIns="0" bIns="0" rtlCol="0" anchor="t">
            <a:spAutoFit/>
          </a:bodyPr>
          <a:lstStyle/>
          <a:p>
            <a:pPr algn="ctr">
              <a:lnSpc>
                <a:spcPts val="7266"/>
              </a:lnSpc>
            </a:pPr>
            <a:r>
              <a:rPr lang="en-US" sz="5190" b="1" dirty="0">
                <a:solidFill>
                  <a:srgbClr val="000000"/>
                </a:solidFill>
                <a:latin typeface="Century Gothic Paneuropean Bold"/>
                <a:ea typeface="Century Gothic Paneuropean Bold"/>
                <a:cs typeface="Century Gothic Paneuropean Bold"/>
                <a:sym typeface="Century Gothic Paneuropean Bold"/>
              </a:rPr>
              <a:t>EXISTING SYSTEM</a:t>
            </a:r>
          </a:p>
        </p:txBody>
      </p:sp>
      <p:sp>
        <p:nvSpPr>
          <p:cNvPr id="9" name="TextBox 9"/>
          <p:cNvSpPr txBox="1"/>
          <p:nvPr/>
        </p:nvSpPr>
        <p:spPr>
          <a:xfrm>
            <a:off x="2108879" y="2476500"/>
            <a:ext cx="14610064" cy="5969583"/>
          </a:xfrm>
          <a:prstGeom prst="rect">
            <a:avLst/>
          </a:prstGeom>
        </p:spPr>
        <p:txBody>
          <a:bodyPr lIns="0" tIns="0" rIns="0" bIns="0" rtlCol="0" anchor="t">
            <a:spAutoFit/>
          </a:bodyPr>
          <a:lstStyle/>
          <a:p>
            <a:pPr marL="760806" lvl="1" indent="-457200" algn="just">
              <a:lnSpc>
                <a:spcPts val="3937"/>
              </a:lnSpc>
              <a:buFont typeface="Arial" panose="020B0604020202020204" pitchFamily="34" charset="0"/>
              <a:buChar char="•"/>
            </a:pPr>
            <a:r>
              <a:rPr lang="en-US" sz="2812" dirty="0">
                <a:solidFill>
                  <a:srgbClr val="000000"/>
                </a:solidFill>
                <a:latin typeface="Century Gothic Paneuropean Bold" panose="020B0604020202020204" charset="0"/>
                <a:ea typeface="Canva Sans"/>
                <a:cs typeface="Century Gothic Paneuropean Bold" panose="020B0604020202020204" charset="0"/>
                <a:sym typeface="Canva Sans"/>
              </a:rPr>
              <a:t>Manual Waste Segregation</a:t>
            </a:r>
            <a:r>
              <a:rPr lang="en-US" sz="2812" b="1" dirty="0">
                <a:solidFill>
                  <a:srgbClr val="000000"/>
                </a:solidFill>
                <a:latin typeface="Century Gothic Paneuropean Bold"/>
                <a:ea typeface="Century Gothic Paneuropean Bold"/>
                <a:cs typeface="Century Gothic Paneuropean Bold"/>
                <a:sym typeface="Century Gothic Paneuropean Bold"/>
              </a:rPr>
              <a:t> :</a:t>
            </a:r>
            <a:endParaRPr lang="en-US" sz="2812" dirty="0">
              <a:solidFill>
                <a:srgbClr val="000000"/>
              </a:solidFill>
              <a:latin typeface="Canva Sans"/>
              <a:ea typeface="Canva Sans"/>
              <a:cs typeface="Canva Sans"/>
              <a:sym typeface="Canva Sans"/>
            </a:endParaRPr>
          </a:p>
          <a:p>
            <a:pPr marL="303606" lvl="1" algn="just">
              <a:lnSpc>
                <a:spcPts val="3937"/>
              </a:lnSpc>
            </a:pPr>
            <a:r>
              <a:rPr lang="en-US" sz="2812" dirty="0">
                <a:solidFill>
                  <a:srgbClr val="000000"/>
                </a:solidFill>
                <a:latin typeface="Canva Sans"/>
                <a:ea typeface="Century Gothic Paneuropean"/>
                <a:cs typeface="Century Gothic Paneuropean"/>
                <a:sym typeface="Canva Sans"/>
              </a:rPr>
              <a:t>	</a:t>
            </a:r>
            <a:r>
              <a:rPr lang="en-US" sz="2812" dirty="0">
                <a:solidFill>
                  <a:srgbClr val="000000"/>
                </a:solidFill>
                <a:latin typeface="Century Gothic Paneuropean"/>
                <a:ea typeface="Century Gothic Paneuropean"/>
                <a:cs typeface="Century Gothic Paneuropean"/>
                <a:sym typeface="Century Gothic Paneuropean"/>
              </a:rPr>
              <a:t>Performed by humans, risky and labor-intensive.</a:t>
            </a:r>
          </a:p>
          <a:p>
            <a:pPr marL="303606" lvl="1"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	Slow and inefficient for large waste volumes.</a:t>
            </a:r>
          </a:p>
          <a:p>
            <a:pPr marL="760806" lvl="1" indent="-457200" algn="just">
              <a:lnSpc>
                <a:spcPts val="3937"/>
              </a:lnSpc>
              <a:buFont typeface="Arial" panose="020B0604020202020204" pitchFamily="34" charset="0"/>
              <a:buChar char="•"/>
            </a:pPr>
            <a:r>
              <a:rPr lang="en-US" sz="2812" dirty="0">
                <a:solidFill>
                  <a:srgbClr val="000000"/>
                </a:solidFill>
                <a:latin typeface="Century Gothic Paneuropean Bold" panose="020B0604020202020204" charset="0"/>
                <a:ea typeface="Canva Sans"/>
                <a:cs typeface="Century Gothic Paneuropean Bold" panose="020B0604020202020204" charset="0"/>
                <a:sym typeface="Canva Sans"/>
              </a:rPr>
              <a:t>Environmental Impact : </a:t>
            </a:r>
          </a:p>
          <a:p>
            <a:pPr marL="303606" lvl="1"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	Growing landfills , Soil and water pollution and Impact on public health.</a:t>
            </a:r>
          </a:p>
          <a:p>
            <a:pPr marL="760806" lvl="1" indent="-457200" algn="just">
              <a:lnSpc>
                <a:spcPts val="3937"/>
              </a:lnSpc>
              <a:buFont typeface="Arial" panose="020B0604020202020204" pitchFamily="34" charset="0"/>
              <a:buChar char="•"/>
            </a:pPr>
            <a:r>
              <a:rPr lang="en-US" sz="2812" dirty="0">
                <a:solidFill>
                  <a:srgbClr val="000000"/>
                </a:solidFill>
                <a:latin typeface="Century Gothic Paneuropean Bold" panose="020B0604020202020204" charset="0"/>
                <a:ea typeface="Canva Sans"/>
                <a:cs typeface="Century Gothic Paneuropean Bold" panose="020B0604020202020204" charset="0"/>
                <a:sym typeface="Canva Sans"/>
              </a:rPr>
              <a:t>Lack of Automation :</a:t>
            </a:r>
            <a:endParaRPr lang="en-US" sz="2812" dirty="0">
              <a:solidFill>
                <a:srgbClr val="000000"/>
              </a:solidFill>
              <a:latin typeface="Century Gothic Paneuropean"/>
              <a:ea typeface="Century Gothic Paneuropean"/>
              <a:cs typeface="Century Gothic Paneuropean"/>
              <a:sym typeface="Century Gothic Paneuropean"/>
            </a:endParaRPr>
          </a:p>
          <a:p>
            <a:pPr marL="303606" lvl="1" algn="just">
              <a:lnSpc>
                <a:spcPts val="3937"/>
              </a:lnSpc>
            </a:pPr>
            <a:r>
              <a:rPr lang="en-US" sz="2812" dirty="0">
                <a:solidFill>
                  <a:srgbClr val="000000"/>
                </a:solidFill>
                <a:latin typeface="Canva Sans"/>
                <a:ea typeface="Canva Sans"/>
                <a:cs typeface="Canva Sans"/>
                <a:sym typeface="Canva Sans"/>
              </a:rPr>
              <a:t>	</a:t>
            </a:r>
            <a:r>
              <a:rPr lang="en-US" sz="2812" dirty="0">
                <a:solidFill>
                  <a:srgbClr val="000000"/>
                </a:solidFill>
                <a:latin typeface="Century Gothic Paneuropean"/>
                <a:ea typeface="Century Gothic Paneuropean"/>
                <a:cs typeface="Century Gothic Paneuropean"/>
                <a:sym typeface="Century Gothic Paneuropean"/>
              </a:rPr>
              <a:t>Limited use of robotics, sensors.</a:t>
            </a:r>
          </a:p>
          <a:p>
            <a:pPr marL="303606" lvl="1"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	No real-time sorting or segregation capability.</a:t>
            </a:r>
          </a:p>
          <a:p>
            <a:pPr marL="303606" lvl="1" algn="just">
              <a:lnSpc>
                <a:spcPts val="3937"/>
              </a:lnSpc>
            </a:pPr>
            <a:endParaRPr lang="en-US" sz="2812" dirty="0">
              <a:solidFill>
                <a:srgbClr val="000000"/>
              </a:solidFill>
              <a:latin typeface="Century Gothic Paneuropean"/>
              <a:ea typeface="Century Gothic Paneuropean"/>
              <a:cs typeface="Century Gothic Paneuropean"/>
              <a:sym typeface="Century Gothic Paneuropean"/>
            </a:endParaRPr>
          </a:p>
          <a:p>
            <a:pPr marL="303606" lvl="1"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Overall , </a:t>
            </a:r>
          </a:p>
          <a:p>
            <a:pPr marL="303606" lvl="1"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Current systems do not align with smart waste management goals  and Difficult to scale for urban environments.</a:t>
            </a: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Slide Number Placeholder 14">
            <a:extLst>
              <a:ext uri="{FF2B5EF4-FFF2-40B4-BE49-F238E27FC236}">
                <a16:creationId xmlns:a16="http://schemas.microsoft.com/office/drawing/2014/main" id="{E021E121-A012-194E-A639-DC2AA57D612B}"/>
              </a:ext>
            </a:extLst>
          </p:cNvPr>
          <p:cNvSpPr>
            <a:spLocks noGrp="1"/>
          </p:cNvSpPr>
          <p:nvPr>
            <p:ph type="sldNum" sz="quarter" idx="12"/>
          </p:nvPr>
        </p:nvSpPr>
        <p:spPr>
          <a:xfrm>
            <a:off x="15125700" y="9287798"/>
            <a:ext cx="2133600" cy="365125"/>
          </a:xfrm>
        </p:spPr>
        <p:txBody>
          <a:bodyPr/>
          <a:lstStyle/>
          <a:p>
            <a:fld id="{B6F15528-21DE-4FAA-801E-634DDDAF4B2B}" type="slidenum">
              <a:rPr lang="en-US" smtClean="0"/>
              <a:pPr/>
              <a:t>4</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5638800" y="2096707"/>
            <a:ext cx="6843785" cy="7291509"/>
          </a:xfrm>
          <a:custGeom>
            <a:avLst/>
            <a:gdLst/>
            <a:ahLst/>
            <a:cxnLst/>
            <a:rect l="l" t="t" r="r" b="b"/>
            <a:pathLst>
              <a:path w="6843785" h="7291509">
                <a:moveTo>
                  <a:pt x="0" y="0"/>
                </a:moveTo>
                <a:lnTo>
                  <a:pt x="6843784" y="0"/>
                </a:lnTo>
                <a:lnTo>
                  <a:pt x="6843784" y="7291509"/>
                </a:lnTo>
                <a:lnTo>
                  <a:pt x="0" y="7291509"/>
                </a:lnTo>
                <a:lnTo>
                  <a:pt x="0" y="0"/>
                </a:lnTo>
                <a:close/>
              </a:path>
            </a:pathLst>
          </a:custGeom>
          <a:blipFill>
            <a:blip r:embed="rId4"/>
            <a:stretch>
              <a:fillRect/>
            </a:stretch>
          </a:blipFill>
        </p:spPr>
        <p:txBody>
          <a:bodyPr/>
          <a:lstStyle/>
          <a:p>
            <a:endParaRPr lang="en-IN"/>
          </a:p>
        </p:txBody>
      </p:sp>
      <p:sp>
        <p:nvSpPr>
          <p:cNvPr id="14" name="TextBox 14"/>
          <p:cNvSpPr txBox="1"/>
          <p:nvPr/>
        </p:nvSpPr>
        <p:spPr>
          <a:xfrm>
            <a:off x="2321159" y="898784"/>
            <a:ext cx="13645683" cy="873701"/>
          </a:xfrm>
          <a:prstGeom prst="rect">
            <a:avLst/>
          </a:prstGeom>
        </p:spPr>
        <p:txBody>
          <a:bodyPr wrap="square" lIns="0" tIns="0" rIns="0" bIns="0" rtlCol="0" anchor="t">
            <a:spAutoFit/>
          </a:bodyPr>
          <a:lstStyle/>
          <a:p>
            <a:pPr algn="ctr">
              <a:lnSpc>
                <a:spcPts val="7266"/>
              </a:lnSpc>
            </a:pPr>
            <a:r>
              <a:rPr lang="en-US" sz="5190" b="1" dirty="0">
                <a:solidFill>
                  <a:srgbClr val="000000"/>
                </a:solidFill>
                <a:latin typeface="Century Gothic Paneuropean Bold"/>
                <a:ea typeface="Century Gothic Paneuropean Bold"/>
                <a:cs typeface="Century Gothic Paneuropean Bold"/>
                <a:sym typeface="Century Gothic Paneuropean Bold"/>
              </a:rPr>
              <a:t>PROPOSED SYSTEM / METHODOLOGY</a:t>
            </a:r>
          </a:p>
        </p:txBody>
      </p:sp>
      <p:sp>
        <p:nvSpPr>
          <p:cNvPr id="15" name="Slide Number Placeholder 14">
            <a:extLst>
              <a:ext uri="{FF2B5EF4-FFF2-40B4-BE49-F238E27FC236}">
                <a16:creationId xmlns:a16="http://schemas.microsoft.com/office/drawing/2014/main" id="{166B235B-1842-A8F1-B7C7-9D09470E68C6}"/>
              </a:ext>
            </a:extLst>
          </p:cNvPr>
          <p:cNvSpPr>
            <a:spLocks noGrp="1"/>
          </p:cNvSpPr>
          <p:nvPr>
            <p:ph type="sldNum" sz="quarter" idx="12"/>
          </p:nvPr>
        </p:nvSpPr>
        <p:spPr>
          <a:xfrm>
            <a:off x="15125700" y="9158574"/>
            <a:ext cx="2133600" cy="365125"/>
          </a:xfrm>
        </p:spPr>
        <p:txBody>
          <a:bodyPr/>
          <a:lstStyle/>
          <a:p>
            <a:fld id="{B6F15528-21DE-4FAA-801E-634DDDAF4B2B}" type="slidenum">
              <a:rPr lang="en-US" smtClean="0"/>
              <a:pPr/>
              <a:t>5</a:t>
            </a:fld>
            <a:endParaRPr lang="en-US" dirty="0"/>
          </a:p>
        </p:txBody>
      </p:sp>
      <mc:AlternateContent xmlns:mc="http://schemas.openxmlformats.org/markup-compatibility/2006" xmlns:p14="http://schemas.microsoft.com/office/powerpoint/2010/main">
        <mc:Choice Requires="p14">
          <p:contentPart p14:bwMode="auto" r:id="rId5">
            <p14:nvContentPartPr>
              <p14:cNvPr id="18" name="Ink 17">
                <a:extLst>
                  <a:ext uri="{FF2B5EF4-FFF2-40B4-BE49-F238E27FC236}">
                    <a16:creationId xmlns:a16="http://schemas.microsoft.com/office/drawing/2014/main" id="{AE8DC040-E959-7CE2-1D7C-0855FFB26C3F}"/>
                  </a:ext>
                </a:extLst>
              </p14:cNvPr>
              <p14:cNvContentPartPr/>
              <p14:nvPr/>
            </p14:nvContentPartPr>
            <p14:xfrm>
              <a:off x="7747968" y="4657296"/>
              <a:ext cx="1530360" cy="97920"/>
            </p14:xfrm>
          </p:contentPart>
        </mc:Choice>
        <mc:Fallback xmlns="">
          <p:pic>
            <p:nvPicPr>
              <p:cNvPr id="18" name="Ink 17">
                <a:extLst>
                  <a:ext uri="{FF2B5EF4-FFF2-40B4-BE49-F238E27FC236}">
                    <a16:creationId xmlns:a16="http://schemas.microsoft.com/office/drawing/2014/main" id="{AE8DC040-E959-7CE2-1D7C-0855FFB26C3F}"/>
                  </a:ext>
                </a:extLst>
              </p:cNvPr>
              <p:cNvPicPr/>
              <p:nvPr/>
            </p:nvPicPr>
            <p:blipFill>
              <a:blip r:embed="rId6"/>
              <a:stretch>
                <a:fillRect/>
              </a:stretch>
            </p:blipFill>
            <p:spPr>
              <a:xfrm>
                <a:off x="7711968" y="4621296"/>
                <a:ext cx="160200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 name="Ink 18">
                <a:extLst>
                  <a:ext uri="{FF2B5EF4-FFF2-40B4-BE49-F238E27FC236}">
                    <a16:creationId xmlns:a16="http://schemas.microsoft.com/office/drawing/2014/main" id="{3343A015-7E01-ECB8-E81E-771540FC85A7}"/>
                  </a:ext>
                </a:extLst>
              </p14:cNvPr>
              <p14:cNvContentPartPr/>
              <p14:nvPr/>
            </p14:nvContentPartPr>
            <p14:xfrm>
              <a:off x="8448888" y="4681416"/>
              <a:ext cx="360" cy="360"/>
            </p14:xfrm>
          </p:contentPart>
        </mc:Choice>
        <mc:Fallback xmlns="">
          <p:pic>
            <p:nvPicPr>
              <p:cNvPr id="19" name="Ink 18">
                <a:extLst>
                  <a:ext uri="{FF2B5EF4-FFF2-40B4-BE49-F238E27FC236}">
                    <a16:creationId xmlns:a16="http://schemas.microsoft.com/office/drawing/2014/main" id="{3343A015-7E01-ECB8-E81E-771540FC85A7}"/>
                  </a:ext>
                </a:extLst>
              </p:cNvPr>
              <p:cNvPicPr/>
              <p:nvPr/>
            </p:nvPicPr>
            <p:blipFill>
              <a:blip r:embed="rId8"/>
              <a:stretch>
                <a:fillRect/>
              </a:stretch>
            </p:blipFill>
            <p:spPr>
              <a:xfrm>
                <a:off x="8413248" y="4645776"/>
                <a:ext cx="72000" cy="720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0" name="Ink 19">
                <a:extLst>
                  <a:ext uri="{FF2B5EF4-FFF2-40B4-BE49-F238E27FC236}">
                    <a16:creationId xmlns:a16="http://schemas.microsoft.com/office/drawing/2014/main" id="{24BD1126-1D98-EDBA-5192-EA6192B87ECE}"/>
                  </a:ext>
                </a:extLst>
              </p14:cNvPr>
              <p14:cNvContentPartPr/>
              <p14:nvPr/>
            </p14:nvContentPartPr>
            <p14:xfrm>
              <a:off x="7808808" y="4753776"/>
              <a:ext cx="1421280" cy="25560"/>
            </p14:xfrm>
          </p:contentPart>
        </mc:Choice>
        <mc:Fallback xmlns="">
          <p:pic>
            <p:nvPicPr>
              <p:cNvPr id="20" name="Ink 19">
                <a:extLst>
                  <a:ext uri="{FF2B5EF4-FFF2-40B4-BE49-F238E27FC236}">
                    <a16:creationId xmlns:a16="http://schemas.microsoft.com/office/drawing/2014/main" id="{24BD1126-1D98-EDBA-5192-EA6192B87ECE}"/>
                  </a:ext>
                </a:extLst>
              </p:cNvPr>
              <p:cNvPicPr/>
              <p:nvPr/>
            </p:nvPicPr>
            <p:blipFill>
              <a:blip r:embed="rId10"/>
              <a:stretch>
                <a:fillRect/>
              </a:stretch>
            </p:blipFill>
            <p:spPr>
              <a:xfrm>
                <a:off x="7772808" y="4718136"/>
                <a:ext cx="1492920" cy="9720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22" name="Ink 21">
                <a:extLst>
                  <a:ext uri="{FF2B5EF4-FFF2-40B4-BE49-F238E27FC236}">
                    <a16:creationId xmlns:a16="http://schemas.microsoft.com/office/drawing/2014/main" id="{A09A49D5-71D8-9BBF-E101-D5F48718A741}"/>
                  </a:ext>
                </a:extLst>
              </p14:cNvPr>
              <p14:cNvContentPartPr/>
              <p14:nvPr/>
            </p14:nvContentPartPr>
            <p14:xfrm>
              <a:off x="7827168" y="4791216"/>
              <a:ext cx="1446480" cy="31320"/>
            </p14:xfrm>
          </p:contentPart>
        </mc:Choice>
        <mc:Fallback xmlns="">
          <p:pic>
            <p:nvPicPr>
              <p:cNvPr id="22" name="Ink 21">
                <a:extLst>
                  <a:ext uri="{FF2B5EF4-FFF2-40B4-BE49-F238E27FC236}">
                    <a16:creationId xmlns:a16="http://schemas.microsoft.com/office/drawing/2014/main" id="{A09A49D5-71D8-9BBF-E101-D5F48718A741}"/>
                  </a:ext>
                </a:extLst>
              </p:cNvPr>
              <p:cNvPicPr/>
              <p:nvPr/>
            </p:nvPicPr>
            <p:blipFill>
              <a:blip r:embed="rId12"/>
              <a:stretch>
                <a:fillRect/>
              </a:stretch>
            </p:blipFill>
            <p:spPr>
              <a:xfrm>
                <a:off x="7791528" y="4755576"/>
                <a:ext cx="15181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23" name="Ink 22">
                <a:extLst>
                  <a:ext uri="{FF2B5EF4-FFF2-40B4-BE49-F238E27FC236}">
                    <a16:creationId xmlns:a16="http://schemas.microsoft.com/office/drawing/2014/main" id="{2CD449F0-1857-C0AD-8905-F46793397062}"/>
                  </a:ext>
                </a:extLst>
              </p14:cNvPr>
              <p14:cNvContentPartPr/>
              <p14:nvPr/>
            </p14:nvContentPartPr>
            <p14:xfrm>
              <a:off x="7735728" y="4663416"/>
              <a:ext cx="146880" cy="147600"/>
            </p14:xfrm>
          </p:contentPart>
        </mc:Choice>
        <mc:Fallback xmlns="">
          <p:pic>
            <p:nvPicPr>
              <p:cNvPr id="23" name="Ink 22">
                <a:extLst>
                  <a:ext uri="{FF2B5EF4-FFF2-40B4-BE49-F238E27FC236}">
                    <a16:creationId xmlns:a16="http://schemas.microsoft.com/office/drawing/2014/main" id="{2CD449F0-1857-C0AD-8905-F46793397062}"/>
                  </a:ext>
                </a:extLst>
              </p:cNvPr>
              <p:cNvPicPr/>
              <p:nvPr/>
            </p:nvPicPr>
            <p:blipFill>
              <a:blip r:embed="rId14"/>
              <a:stretch>
                <a:fillRect/>
              </a:stretch>
            </p:blipFill>
            <p:spPr>
              <a:xfrm>
                <a:off x="7699728" y="4627416"/>
                <a:ext cx="21852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25" name="Ink 24">
                <a:extLst>
                  <a:ext uri="{FF2B5EF4-FFF2-40B4-BE49-F238E27FC236}">
                    <a16:creationId xmlns:a16="http://schemas.microsoft.com/office/drawing/2014/main" id="{0DD1BAA4-EB29-996F-C9BF-4CA1DBE34527}"/>
                  </a:ext>
                </a:extLst>
              </p14:cNvPr>
              <p14:cNvContentPartPr/>
              <p14:nvPr/>
            </p14:nvContentPartPr>
            <p14:xfrm flipV="1">
              <a:off x="7772088" y="4681416"/>
              <a:ext cx="1512360" cy="30960"/>
            </p14:xfrm>
          </p:contentPart>
        </mc:Choice>
        <mc:Fallback xmlns="">
          <p:pic>
            <p:nvPicPr>
              <p:cNvPr id="25" name="Ink 24">
                <a:extLst>
                  <a:ext uri="{FF2B5EF4-FFF2-40B4-BE49-F238E27FC236}">
                    <a16:creationId xmlns:a16="http://schemas.microsoft.com/office/drawing/2014/main" id="{0DD1BAA4-EB29-996F-C9BF-4CA1DBE34527}"/>
                  </a:ext>
                </a:extLst>
              </p:cNvPr>
              <p:cNvPicPr/>
              <p:nvPr/>
            </p:nvPicPr>
            <p:blipFill>
              <a:blip r:embed="rId16"/>
              <a:stretch>
                <a:fillRect/>
              </a:stretch>
            </p:blipFill>
            <p:spPr>
              <a:xfrm flipV="1">
                <a:off x="7736440" y="4645830"/>
                <a:ext cx="1584017" cy="101777"/>
              </a:xfrm>
              <a:prstGeom prst="rect">
                <a:avLst/>
              </a:prstGeom>
            </p:spPr>
          </p:pic>
        </mc:Fallback>
      </mc:AlternateContent>
      <p:grpSp>
        <p:nvGrpSpPr>
          <p:cNvPr id="28" name="Group 27">
            <a:extLst>
              <a:ext uri="{FF2B5EF4-FFF2-40B4-BE49-F238E27FC236}">
                <a16:creationId xmlns:a16="http://schemas.microsoft.com/office/drawing/2014/main" id="{04B5A6B2-D38D-69D1-C451-63757456A5FB}"/>
              </a:ext>
            </a:extLst>
          </p:cNvPr>
          <p:cNvGrpSpPr/>
          <p:nvPr/>
        </p:nvGrpSpPr>
        <p:grpSpPr>
          <a:xfrm>
            <a:off x="8259888" y="4718136"/>
            <a:ext cx="600840" cy="92160"/>
            <a:chOff x="8259888" y="4718136"/>
            <a:chExt cx="600840" cy="92160"/>
          </a:xfrm>
        </p:grpSpPr>
        <mc:AlternateContent xmlns:mc="http://schemas.openxmlformats.org/markup-compatibility/2006" xmlns:p14="http://schemas.microsoft.com/office/powerpoint/2010/main">
          <mc:Choice Requires="p14">
            <p:contentPart p14:bwMode="auto" r:id="rId17">
              <p14:nvContentPartPr>
                <p14:cNvPr id="26" name="Ink 25">
                  <a:extLst>
                    <a:ext uri="{FF2B5EF4-FFF2-40B4-BE49-F238E27FC236}">
                      <a16:creationId xmlns:a16="http://schemas.microsoft.com/office/drawing/2014/main" id="{9C48BD14-6005-194D-FB95-FDA3E5557C36}"/>
                    </a:ext>
                  </a:extLst>
                </p14:cNvPr>
                <p14:cNvContentPartPr/>
                <p14:nvPr/>
              </p14:nvContentPartPr>
              <p14:xfrm>
                <a:off x="8570928" y="4769616"/>
                <a:ext cx="289800" cy="28080"/>
              </p14:xfrm>
            </p:contentPart>
          </mc:Choice>
          <mc:Fallback xmlns="">
            <p:pic>
              <p:nvPicPr>
                <p:cNvPr id="26" name="Ink 25">
                  <a:extLst>
                    <a:ext uri="{FF2B5EF4-FFF2-40B4-BE49-F238E27FC236}">
                      <a16:creationId xmlns:a16="http://schemas.microsoft.com/office/drawing/2014/main" id="{9C48BD14-6005-194D-FB95-FDA3E5557C36}"/>
                    </a:ext>
                  </a:extLst>
                </p:cNvPr>
                <p:cNvPicPr/>
                <p:nvPr/>
              </p:nvPicPr>
              <p:blipFill>
                <a:blip r:embed="rId18"/>
                <a:stretch>
                  <a:fillRect/>
                </a:stretch>
              </p:blipFill>
              <p:spPr>
                <a:xfrm>
                  <a:off x="8534928" y="4733616"/>
                  <a:ext cx="36144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27" name="Ink 26">
                  <a:extLst>
                    <a:ext uri="{FF2B5EF4-FFF2-40B4-BE49-F238E27FC236}">
                      <a16:creationId xmlns:a16="http://schemas.microsoft.com/office/drawing/2014/main" id="{EBAEC3EF-76B3-8507-0F60-1768D76EA7CA}"/>
                    </a:ext>
                  </a:extLst>
                </p14:cNvPr>
                <p14:cNvContentPartPr/>
                <p14:nvPr/>
              </p14:nvContentPartPr>
              <p14:xfrm>
                <a:off x="8259888" y="4718136"/>
                <a:ext cx="524880" cy="92160"/>
              </p14:xfrm>
            </p:contentPart>
          </mc:Choice>
          <mc:Fallback xmlns="">
            <p:pic>
              <p:nvPicPr>
                <p:cNvPr id="27" name="Ink 26">
                  <a:extLst>
                    <a:ext uri="{FF2B5EF4-FFF2-40B4-BE49-F238E27FC236}">
                      <a16:creationId xmlns:a16="http://schemas.microsoft.com/office/drawing/2014/main" id="{EBAEC3EF-76B3-8507-0F60-1768D76EA7CA}"/>
                    </a:ext>
                  </a:extLst>
                </p:cNvPr>
                <p:cNvPicPr/>
                <p:nvPr/>
              </p:nvPicPr>
              <p:blipFill>
                <a:blip r:embed="rId20"/>
                <a:stretch>
                  <a:fillRect/>
                </a:stretch>
              </p:blipFill>
              <p:spPr>
                <a:xfrm>
                  <a:off x="8224248" y="4682136"/>
                  <a:ext cx="596520" cy="163800"/>
                </a:xfrm>
                <a:prstGeom prst="rect">
                  <a:avLst/>
                </a:prstGeom>
              </p:spPr>
            </p:pic>
          </mc:Fallback>
        </mc:AlternateContent>
      </p:gr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2761931" y="1093313"/>
            <a:ext cx="12764138" cy="873701"/>
          </a:xfrm>
          <a:prstGeom prst="rect">
            <a:avLst/>
          </a:prstGeom>
        </p:spPr>
        <p:txBody>
          <a:bodyPr wrap="square" lIns="0" tIns="0" rIns="0" bIns="0" rtlCol="0" anchor="t">
            <a:spAutoFit/>
          </a:bodyPr>
          <a:lstStyle/>
          <a:p>
            <a:pPr algn="ctr">
              <a:lnSpc>
                <a:spcPts val="7266"/>
              </a:lnSpc>
            </a:pPr>
            <a:r>
              <a:rPr lang="en-US" sz="5190" b="1" dirty="0">
                <a:solidFill>
                  <a:srgbClr val="000000"/>
                </a:solidFill>
                <a:latin typeface="Century Gothic Paneuropean Bold"/>
                <a:ea typeface="Century Gothic Paneuropean Bold"/>
                <a:cs typeface="Century Gothic Paneuropean Bold"/>
                <a:sym typeface="Century Gothic Paneuropean Bold"/>
              </a:rPr>
              <a:t>PROPOSED SYSTEM  / METHODOLOGY</a:t>
            </a:r>
          </a:p>
        </p:txBody>
      </p:sp>
      <p:sp>
        <p:nvSpPr>
          <p:cNvPr id="9" name="TextBox 9"/>
          <p:cNvSpPr txBox="1"/>
          <p:nvPr/>
        </p:nvSpPr>
        <p:spPr>
          <a:xfrm>
            <a:off x="2438400" y="2782047"/>
            <a:ext cx="12344400" cy="4546116"/>
          </a:xfrm>
          <a:prstGeom prst="rect">
            <a:avLst/>
          </a:prstGeom>
        </p:spPr>
        <p:txBody>
          <a:bodyPr wrap="square" lIns="0" tIns="0" rIns="0" bIns="0" rtlCol="0" anchor="t">
            <a:spAutoFit/>
          </a:bodyPr>
          <a:lstStyle/>
          <a:p>
            <a:pPr algn="just">
              <a:lnSpc>
                <a:spcPts val="4497"/>
              </a:lnSpc>
            </a:pPr>
            <a:r>
              <a:rPr lang="en-US" sz="3212" b="1" u="sng" dirty="0">
                <a:solidFill>
                  <a:srgbClr val="000000"/>
                </a:solidFill>
                <a:latin typeface="Century Gothic Paneuropean Bold"/>
                <a:ea typeface="Century Gothic Paneuropean Bold"/>
                <a:cs typeface="Century Gothic Paneuropean Bold"/>
                <a:sym typeface="Century Gothic Paneuropean Bold"/>
              </a:rPr>
              <a:t>Methodology Steps:</a:t>
            </a:r>
          </a:p>
          <a:p>
            <a:pPr algn="just">
              <a:lnSpc>
                <a:spcPts val="3937"/>
              </a:lnSpc>
            </a:pPr>
            <a:endParaRPr lang="en-US" sz="3212" b="1" u="sng" dirty="0">
              <a:solidFill>
                <a:srgbClr val="000000"/>
              </a:solidFill>
              <a:latin typeface="Century Gothic Paneuropean Bold"/>
              <a:ea typeface="Century Gothic Paneuropean Bold"/>
              <a:cs typeface="Century Gothic Paneuropean Bold"/>
              <a:sym typeface="Century Gothic Paneuropean Bold"/>
            </a:endParaRPr>
          </a:p>
          <a:p>
            <a:pPr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1. Image Acquisition (Using Raspberry PI Camera)</a:t>
            </a:r>
          </a:p>
          <a:p>
            <a:pPr algn="just">
              <a:lnSpc>
                <a:spcPts val="3937"/>
              </a:lnSpc>
            </a:pPr>
            <a:endParaRPr lang="en-US" sz="2812" dirty="0">
              <a:solidFill>
                <a:srgbClr val="000000"/>
              </a:solidFill>
              <a:latin typeface="Century Gothic Paneuropean"/>
              <a:ea typeface="Century Gothic Paneuropean"/>
              <a:cs typeface="Century Gothic Paneuropean"/>
              <a:sym typeface="Century Gothic Paneuropean"/>
            </a:endParaRPr>
          </a:p>
          <a:p>
            <a:pPr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2. Waste Classification (Software Module – Developed Using YOLOv8n)</a:t>
            </a:r>
          </a:p>
          <a:p>
            <a:pPr algn="just">
              <a:lnSpc>
                <a:spcPts val="3937"/>
              </a:lnSpc>
            </a:pPr>
            <a:endParaRPr lang="en-US" sz="2812" dirty="0">
              <a:solidFill>
                <a:srgbClr val="000000"/>
              </a:solidFill>
              <a:latin typeface="Century Gothic Paneuropean"/>
              <a:ea typeface="Century Gothic Paneuropean"/>
              <a:cs typeface="Century Gothic Paneuropean"/>
              <a:sym typeface="Century Gothic Paneuropean"/>
            </a:endParaRPr>
          </a:p>
          <a:p>
            <a:pPr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3. Hardware Integration (Robotic arm + PCA-16Bit PWM Driver)</a:t>
            </a:r>
          </a:p>
          <a:p>
            <a:pPr algn="just">
              <a:lnSpc>
                <a:spcPts val="3937"/>
              </a:lnSpc>
            </a:pPr>
            <a:endParaRPr lang="en-US" sz="2812" dirty="0">
              <a:solidFill>
                <a:srgbClr val="000000"/>
              </a:solidFill>
              <a:latin typeface="Century Gothic Paneuropean"/>
              <a:ea typeface="Century Gothic Paneuropean"/>
              <a:cs typeface="Century Gothic Paneuropean"/>
              <a:sym typeface="Century Gothic Paneuropean"/>
            </a:endParaRPr>
          </a:p>
          <a:p>
            <a:pPr algn="just">
              <a:lnSpc>
                <a:spcPts val="3937"/>
              </a:lnSpc>
            </a:pPr>
            <a:r>
              <a:rPr lang="en-US" sz="2812" dirty="0">
                <a:solidFill>
                  <a:srgbClr val="000000"/>
                </a:solidFill>
                <a:latin typeface="Century Gothic Paneuropean"/>
                <a:ea typeface="Century Gothic Paneuropean"/>
                <a:cs typeface="Century Gothic Paneuropean"/>
                <a:sym typeface="Century Gothic Paneuropean"/>
              </a:rPr>
              <a:t>4. Robotic Arm Control (Mechanical Module – Pick and Place)</a:t>
            </a:r>
          </a:p>
        </p:txBody>
      </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5" name="Slide Number Placeholder 14">
            <a:extLst>
              <a:ext uri="{FF2B5EF4-FFF2-40B4-BE49-F238E27FC236}">
                <a16:creationId xmlns:a16="http://schemas.microsoft.com/office/drawing/2014/main" id="{ACF47A97-72DE-8A6A-8EC9-E736C4AA83D7}"/>
              </a:ext>
            </a:extLst>
          </p:cNvPr>
          <p:cNvSpPr>
            <a:spLocks noGrp="1"/>
          </p:cNvSpPr>
          <p:nvPr>
            <p:ph type="sldNum" sz="quarter" idx="12"/>
          </p:nvPr>
        </p:nvSpPr>
        <p:spPr>
          <a:xfrm>
            <a:off x="15125700" y="9255957"/>
            <a:ext cx="2133600" cy="365125"/>
          </a:xfrm>
        </p:spPr>
        <p:txBody>
          <a:bodyPr/>
          <a:lstStyle/>
          <a:p>
            <a:fld id="{B6F15528-21DE-4FAA-801E-634DDDAF4B2B}" type="slidenum">
              <a:rPr lang="en-US" smtClean="0"/>
              <a:pPr/>
              <a:t>6</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72E2C-7ED6-88D7-C35E-406D960BC73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81599B9-9079-D37F-D519-D85B35CF135E}"/>
              </a:ext>
            </a:extLst>
          </p:cNvPr>
          <p:cNvGrpSpPr/>
          <p:nvPr/>
        </p:nvGrpSpPr>
        <p:grpSpPr>
          <a:xfrm>
            <a:off x="16718943" y="-989670"/>
            <a:ext cx="1080715" cy="2956684"/>
            <a:chOff x="0" y="0"/>
            <a:chExt cx="284633" cy="778715"/>
          </a:xfrm>
        </p:grpSpPr>
        <p:sp>
          <p:nvSpPr>
            <p:cNvPr id="3" name="Freeform 3">
              <a:extLst>
                <a:ext uri="{FF2B5EF4-FFF2-40B4-BE49-F238E27FC236}">
                  <a16:creationId xmlns:a16="http://schemas.microsoft.com/office/drawing/2014/main" id="{A1A905B4-2160-07DD-849B-7AC20A47404B}"/>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a:extLst>
                <a:ext uri="{FF2B5EF4-FFF2-40B4-BE49-F238E27FC236}">
                  <a16:creationId xmlns:a16="http://schemas.microsoft.com/office/drawing/2014/main" id="{70502EA0-F98B-6A0D-7403-7F1C14E4FECB}"/>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264D777-8A24-779D-9F4A-0DFA300C94D3}"/>
              </a:ext>
            </a:extLst>
          </p:cNvPr>
          <p:cNvGrpSpPr/>
          <p:nvPr/>
        </p:nvGrpSpPr>
        <p:grpSpPr>
          <a:xfrm>
            <a:off x="-529352" y="9803843"/>
            <a:ext cx="19346704" cy="821917"/>
            <a:chOff x="0" y="0"/>
            <a:chExt cx="5095428" cy="216472"/>
          </a:xfrm>
        </p:grpSpPr>
        <p:sp>
          <p:nvSpPr>
            <p:cNvPr id="6" name="Freeform 6">
              <a:extLst>
                <a:ext uri="{FF2B5EF4-FFF2-40B4-BE49-F238E27FC236}">
                  <a16:creationId xmlns:a16="http://schemas.microsoft.com/office/drawing/2014/main" id="{8C7188C1-33A6-46AF-355A-F8602422D069}"/>
                </a:ext>
              </a:extLst>
            </p:cNvPr>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a:extLst>
                <a:ext uri="{FF2B5EF4-FFF2-40B4-BE49-F238E27FC236}">
                  <a16:creationId xmlns:a16="http://schemas.microsoft.com/office/drawing/2014/main" id="{5850442D-1A5E-BDC7-0EAF-084E1A17421E}"/>
                </a:ext>
              </a:extLst>
            </p:cNvPr>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a:extLst>
              <a:ext uri="{FF2B5EF4-FFF2-40B4-BE49-F238E27FC236}">
                <a16:creationId xmlns:a16="http://schemas.microsoft.com/office/drawing/2014/main" id="{612667B8-2A5A-1784-3763-5CBB6B1FBF14}"/>
              </a:ext>
            </a:extLst>
          </p:cNvPr>
          <p:cNvSpPr txBox="1"/>
          <p:nvPr/>
        </p:nvSpPr>
        <p:spPr>
          <a:xfrm>
            <a:off x="4158358" y="1089190"/>
            <a:ext cx="9983476" cy="877824"/>
          </a:xfrm>
          <a:prstGeom prst="rect">
            <a:avLst/>
          </a:prstGeom>
        </p:spPr>
        <p:txBody>
          <a:bodyPr lIns="0" tIns="0" rIns="0" bIns="0" rtlCol="0" anchor="t">
            <a:spAutoFit/>
          </a:bodyPr>
          <a:lstStyle/>
          <a:p>
            <a:pPr algn="ctr">
              <a:lnSpc>
                <a:spcPts val="7266"/>
              </a:lnSpc>
            </a:pPr>
            <a:r>
              <a:rPr lang="en-US" sz="5190" b="1" dirty="0">
                <a:solidFill>
                  <a:srgbClr val="000000"/>
                </a:solidFill>
                <a:latin typeface="Century Gothic Paneuropean Bold"/>
                <a:ea typeface="Century Gothic Paneuropean Bold"/>
                <a:cs typeface="Century Gothic Paneuropean Bold"/>
                <a:sym typeface="Century Gothic Paneuropean Bold"/>
              </a:rPr>
              <a:t>IMPLEMENTATION</a:t>
            </a:r>
          </a:p>
        </p:txBody>
      </p:sp>
      <p:sp>
        <p:nvSpPr>
          <p:cNvPr id="9" name="TextBox 9">
            <a:extLst>
              <a:ext uri="{FF2B5EF4-FFF2-40B4-BE49-F238E27FC236}">
                <a16:creationId xmlns:a16="http://schemas.microsoft.com/office/drawing/2014/main" id="{B64690AF-C7B4-3601-295E-AB9CA8BDAB66}"/>
              </a:ext>
            </a:extLst>
          </p:cNvPr>
          <p:cNvSpPr txBox="1"/>
          <p:nvPr/>
        </p:nvSpPr>
        <p:spPr>
          <a:xfrm>
            <a:off x="2108879" y="2277549"/>
            <a:ext cx="14610064" cy="4469172"/>
          </a:xfrm>
          <a:prstGeom prst="rect">
            <a:avLst/>
          </a:prstGeom>
        </p:spPr>
        <p:txBody>
          <a:bodyPr lIns="0" tIns="0" rIns="0" bIns="0" rtlCol="0" anchor="t">
            <a:spAutoFit/>
          </a:bodyPr>
          <a:lstStyle/>
          <a:p>
            <a:pPr marL="457200"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Input Module: USB Camera captures real-time images of waste.</a:t>
            </a:r>
          </a:p>
          <a:p>
            <a:pPr marL="457200"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457200"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Processing Module: Machine learning model (YOLOv8n) predicts waste type.</a:t>
            </a:r>
          </a:p>
          <a:p>
            <a:pPr marL="457200"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457200"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Control Module: Output signals sent to robotic arm controller.</a:t>
            </a:r>
          </a:p>
          <a:p>
            <a:pPr marL="457200"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457200"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Robotic Arm System: Moves and places waste into the appropriate bin.</a:t>
            </a:r>
          </a:p>
          <a:p>
            <a:pPr marL="457200"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457200"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Output: Sorted waste, ready for recycling.</a:t>
            </a:r>
          </a:p>
        </p:txBody>
      </p:sp>
      <p:sp>
        <p:nvSpPr>
          <p:cNvPr id="10" name="Freeform 10">
            <a:extLst>
              <a:ext uri="{FF2B5EF4-FFF2-40B4-BE49-F238E27FC236}">
                <a16:creationId xmlns:a16="http://schemas.microsoft.com/office/drawing/2014/main" id="{36633725-DA87-DF14-90DA-D4DB970B112B}"/>
              </a:ext>
            </a:extLst>
          </p:cNvPr>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1" name="Freeform 11">
            <a:extLst>
              <a:ext uri="{FF2B5EF4-FFF2-40B4-BE49-F238E27FC236}">
                <a16:creationId xmlns:a16="http://schemas.microsoft.com/office/drawing/2014/main" id="{0AF833DE-A4DE-5504-A771-7E79E929AE07}"/>
              </a:ext>
            </a:extLst>
          </p:cNvPr>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a:extLst>
              <a:ext uri="{FF2B5EF4-FFF2-40B4-BE49-F238E27FC236}">
                <a16:creationId xmlns:a16="http://schemas.microsoft.com/office/drawing/2014/main" id="{2260CE45-C267-5FF0-37E3-E5F785FC6385}"/>
              </a:ext>
            </a:extLst>
          </p:cNvPr>
          <p:cNvGrpSpPr/>
          <p:nvPr/>
        </p:nvGrpSpPr>
        <p:grpSpPr>
          <a:xfrm>
            <a:off x="488343" y="-989670"/>
            <a:ext cx="1080715" cy="2956684"/>
            <a:chOff x="0" y="0"/>
            <a:chExt cx="284633" cy="778715"/>
          </a:xfrm>
        </p:grpSpPr>
        <p:sp>
          <p:nvSpPr>
            <p:cNvPr id="13" name="Freeform 13">
              <a:extLst>
                <a:ext uri="{FF2B5EF4-FFF2-40B4-BE49-F238E27FC236}">
                  <a16:creationId xmlns:a16="http://schemas.microsoft.com/office/drawing/2014/main" id="{59AA4A3A-DCC2-40BD-502C-497A28182435}"/>
                </a:ext>
              </a:extLst>
            </p:cNvPr>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4" name="TextBox 14">
              <a:extLst>
                <a:ext uri="{FF2B5EF4-FFF2-40B4-BE49-F238E27FC236}">
                  <a16:creationId xmlns:a16="http://schemas.microsoft.com/office/drawing/2014/main" id="{6812B8D6-071E-432A-06FA-7111746CD64D}"/>
                </a:ext>
              </a:extLst>
            </p:cNvPr>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pic>
        <p:nvPicPr>
          <p:cNvPr id="16" name="Picture 15">
            <a:extLst>
              <a:ext uri="{FF2B5EF4-FFF2-40B4-BE49-F238E27FC236}">
                <a16:creationId xmlns:a16="http://schemas.microsoft.com/office/drawing/2014/main" id="{0C40C625-D63D-0708-2BA8-DBAA4B8E0FC7}"/>
              </a:ext>
            </a:extLst>
          </p:cNvPr>
          <p:cNvPicPr>
            <a:picLocks noChangeAspect="1"/>
          </p:cNvPicPr>
          <p:nvPr/>
        </p:nvPicPr>
        <p:blipFill>
          <a:blip r:embed="rId4"/>
          <a:stretch>
            <a:fillRect/>
          </a:stretch>
        </p:blipFill>
        <p:spPr>
          <a:xfrm>
            <a:off x="3810000" y="7351372"/>
            <a:ext cx="10936226" cy="1981477"/>
          </a:xfrm>
          <a:prstGeom prst="rect">
            <a:avLst/>
          </a:prstGeom>
        </p:spPr>
      </p:pic>
      <p:sp>
        <p:nvSpPr>
          <p:cNvPr id="15" name="Slide Number Placeholder 14">
            <a:extLst>
              <a:ext uri="{FF2B5EF4-FFF2-40B4-BE49-F238E27FC236}">
                <a16:creationId xmlns:a16="http://schemas.microsoft.com/office/drawing/2014/main" id="{E2DA0685-C4FD-8F58-9379-0063BE19C310}"/>
              </a:ext>
            </a:extLst>
          </p:cNvPr>
          <p:cNvSpPr>
            <a:spLocks noGrp="1"/>
          </p:cNvSpPr>
          <p:nvPr>
            <p:ph type="sldNum" sz="quarter" idx="12"/>
          </p:nvPr>
        </p:nvSpPr>
        <p:spPr>
          <a:xfrm>
            <a:off x="15125700" y="9294057"/>
            <a:ext cx="2133600" cy="365125"/>
          </a:xfrm>
        </p:spPr>
        <p:txBody>
          <a:bodyPr/>
          <a:lstStyle/>
          <a:p>
            <a:fld id="{B6F15528-21DE-4FAA-801E-634DDDAF4B2B}" type="slidenum">
              <a:rPr lang="en-US" smtClean="0"/>
              <a:pPr/>
              <a:t>7</a:t>
            </a:fld>
            <a:endParaRPr lang="en-US" dirty="0"/>
          </a:p>
        </p:txBody>
      </p:sp>
    </p:spTree>
    <p:extLst>
      <p:ext uri="{BB962C8B-B14F-4D97-AF65-F5344CB8AC3E}">
        <p14:creationId xmlns:p14="http://schemas.microsoft.com/office/powerpoint/2010/main" val="418702000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3104831" y="1530163"/>
            <a:ext cx="12078338" cy="873701"/>
          </a:xfrm>
          <a:prstGeom prst="rect">
            <a:avLst/>
          </a:prstGeom>
        </p:spPr>
        <p:txBody>
          <a:bodyPr wrap="square" lIns="0" tIns="0" rIns="0" bIns="0" rtlCol="0" anchor="t">
            <a:spAutoFit/>
          </a:bodyPr>
          <a:lstStyle/>
          <a:p>
            <a:pPr algn="ctr">
              <a:lnSpc>
                <a:spcPts val="7266"/>
              </a:lnSpc>
            </a:pPr>
            <a:r>
              <a:rPr lang="en-US" sz="5190" b="1" dirty="0">
                <a:solidFill>
                  <a:srgbClr val="000000"/>
                </a:solidFill>
                <a:latin typeface="Century Gothic Paneuropean Bold"/>
                <a:ea typeface="Century Gothic Paneuropean Bold"/>
                <a:cs typeface="Century Gothic Paneuropean Bold"/>
                <a:sym typeface="Century Gothic Paneuropean Bold"/>
              </a:rPr>
              <a:t>CONCLUSION</a:t>
            </a:r>
          </a:p>
        </p:txBody>
      </p:sp>
      <p:sp>
        <p:nvSpPr>
          <p:cNvPr id="15" name="TextBox 14">
            <a:extLst>
              <a:ext uri="{FF2B5EF4-FFF2-40B4-BE49-F238E27FC236}">
                <a16:creationId xmlns:a16="http://schemas.microsoft.com/office/drawing/2014/main" id="{01A15996-40B2-BD38-B6AB-995CEA2D529D}"/>
              </a:ext>
            </a:extLst>
          </p:cNvPr>
          <p:cNvSpPr txBox="1"/>
          <p:nvPr/>
        </p:nvSpPr>
        <p:spPr>
          <a:xfrm>
            <a:off x="2537460" y="2797945"/>
            <a:ext cx="13639800" cy="6061916"/>
          </a:xfrm>
          <a:prstGeom prst="rect">
            <a:avLst/>
          </a:prstGeom>
          <a:noFill/>
        </p:spPr>
        <p:txBody>
          <a:bodyPr wrap="square" rtlCol="0">
            <a:spAutoFit/>
          </a:bodyPr>
          <a:lstStyle/>
          <a:p>
            <a:pPr marL="760806" lvl="1"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Successfully implemented the image acquisition module for capturing waste images in real time.</a:t>
            </a:r>
          </a:p>
          <a:p>
            <a:pPr marL="760806" lvl="1"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760806" lvl="1"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Achieved accurate recognition and classification of waste categories using machine learning.</a:t>
            </a:r>
          </a:p>
          <a:p>
            <a:pPr marL="303606" lvl="1" algn="just">
              <a:lnSpc>
                <a:spcPts val="3937"/>
              </a:lnSpc>
            </a:pPr>
            <a:endParaRPr lang="en-US" sz="2812" dirty="0">
              <a:solidFill>
                <a:srgbClr val="000000"/>
              </a:solidFill>
              <a:latin typeface="Century Gothic Paneuropean"/>
              <a:ea typeface="Century Gothic Paneuropean"/>
              <a:cs typeface="Century Gothic Paneuropean"/>
              <a:sym typeface="Century Gothic Paneuropean"/>
            </a:endParaRPr>
          </a:p>
          <a:p>
            <a:pPr marL="760806" lvl="1"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Implemented robotic arm control for automated waste picking and sorting.</a:t>
            </a:r>
          </a:p>
          <a:p>
            <a:pPr marL="760806" lvl="1" indent="-457200" algn="just">
              <a:lnSpc>
                <a:spcPts val="3937"/>
              </a:lnSpc>
              <a:buFont typeface="Arial" panose="020B0604020202020204" pitchFamily="34" charset="0"/>
              <a:buChar char="•"/>
            </a:pPr>
            <a:endParaRPr lang="en-US" sz="2812" dirty="0">
              <a:solidFill>
                <a:srgbClr val="000000"/>
              </a:solidFill>
              <a:latin typeface="Century Gothic Paneuropean"/>
              <a:ea typeface="Century Gothic Paneuropean"/>
              <a:cs typeface="Century Gothic Paneuropean"/>
              <a:sym typeface="Century Gothic Paneuropean"/>
            </a:endParaRPr>
          </a:p>
          <a:p>
            <a:pPr marL="760806" lvl="1" indent="-457200" algn="just">
              <a:lnSpc>
                <a:spcPts val="3937"/>
              </a:lnSpc>
              <a:buFont typeface="Arial" panose="020B0604020202020204" pitchFamily="34" charset="0"/>
              <a:buChar char="•"/>
            </a:pPr>
            <a:r>
              <a:rPr lang="en-US" sz="2812" dirty="0">
                <a:solidFill>
                  <a:srgbClr val="000000"/>
                </a:solidFill>
                <a:latin typeface="Century Gothic Paneuropean"/>
                <a:ea typeface="Century Gothic Paneuropean"/>
                <a:cs typeface="Century Gothic Paneuropean"/>
                <a:sym typeface="Century Gothic Paneuropean"/>
              </a:rPr>
              <a:t>Developed a complete automated waste segregation system that is efficient, reliable, and suitable for smart waste management.</a:t>
            </a:r>
          </a:p>
          <a:p>
            <a:pPr marL="760806" lvl="1" indent="-457200" algn="just">
              <a:lnSpc>
                <a:spcPts val="3937"/>
              </a:lnSpc>
              <a:buFont typeface="Arial" panose="020B0604020202020204" pitchFamily="34" charset="0"/>
              <a:buChar char="•"/>
            </a:pPr>
            <a:endParaRPr lang="en-US" sz="2812" b="1" dirty="0">
              <a:solidFill>
                <a:srgbClr val="000000"/>
              </a:solidFill>
              <a:latin typeface="Century Gothic Paneuropean"/>
              <a:ea typeface="Century Gothic Paneuropean"/>
              <a:cs typeface="Century Gothic Paneuropean"/>
              <a:sym typeface="Century Gothic Paneuropean"/>
            </a:endParaRPr>
          </a:p>
        </p:txBody>
      </p:sp>
      <p:sp>
        <p:nvSpPr>
          <p:cNvPr id="13" name="Slide Number Placeholder 12">
            <a:extLst>
              <a:ext uri="{FF2B5EF4-FFF2-40B4-BE49-F238E27FC236}">
                <a16:creationId xmlns:a16="http://schemas.microsoft.com/office/drawing/2014/main" id="{94C7D100-C333-876D-1C75-EF216BBB7F5A}"/>
              </a:ext>
            </a:extLst>
          </p:cNvPr>
          <p:cNvSpPr>
            <a:spLocks noGrp="1"/>
          </p:cNvSpPr>
          <p:nvPr>
            <p:ph type="sldNum" sz="quarter" idx="12"/>
          </p:nvPr>
        </p:nvSpPr>
        <p:spPr>
          <a:xfrm>
            <a:off x="15110460" y="9294057"/>
            <a:ext cx="2133600" cy="365125"/>
          </a:xfrm>
        </p:spPr>
        <p:txBody>
          <a:bodyPr/>
          <a:lstStyle/>
          <a:p>
            <a:fld id="{B6F15528-21DE-4FAA-801E-634DDDAF4B2B}" type="slidenum">
              <a:rPr lang="en-US" smtClean="0"/>
              <a:pPr/>
              <a:t>8</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txBody>
            <a:bodyPr/>
            <a:lstStyle/>
            <a:p>
              <a:endParaRPr lang="en-IN"/>
            </a:p>
          </p:txBody>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152262" y="1409700"/>
            <a:ext cx="9983476" cy="877824"/>
          </a:xfrm>
          <a:prstGeom prst="rect">
            <a:avLst/>
          </a:prstGeom>
        </p:spPr>
        <p:txBody>
          <a:bodyPr lIns="0" tIns="0" rIns="0" bIns="0" rtlCol="0" anchor="t">
            <a:spAutoFit/>
          </a:bodyPr>
          <a:lstStyle/>
          <a:p>
            <a:pPr algn="ctr">
              <a:lnSpc>
                <a:spcPts val="7266"/>
              </a:lnSpc>
            </a:pPr>
            <a:r>
              <a:rPr lang="en-US" sz="5190" b="1" dirty="0">
                <a:solidFill>
                  <a:srgbClr val="000000"/>
                </a:solidFill>
                <a:latin typeface="Century Gothic Paneuropean Bold"/>
                <a:ea typeface="Century Gothic Paneuropean Bold"/>
                <a:cs typeface="Century Gothic Paneuropean Bold"/>
                <a:sym typeface="Century Gothic Paneuropean Bold"/>
              </a:rPr>
              <a:t>REFERENCES</a:t>
            </a:r>
          </a:p>
        </p:txBody>
      </p:sp>
      <p:sp>
        <p:nvSpPr>
          <p:cNvPr id="17" name="TextBox 16">
            <a:extLst>
              <a:ext uri="{FF2B5EF4-FFF2-40B4-BE49-F238E27FC236}">
                <a16:creationId xmlns:a16="http://schemas.microsoft.com/office/drawing/2014/main" id="{BE2DDF75-3364-FD66-6E1B-E8DE53EF6BA1}"/>
              </a:ext>
            </a:extLst>
          </p:cNvPr>
          <p:cNvSpPr txBox="1"/>
          <p:nvPr/>
        </p:nvSpPr>
        <p:spPr>
          <a:xfrm>
            <a:off x="1716212" y="3085173"/>
            <a:ext cx="14859000" cy="3561231"/>
          </a:xfrm>
          <a:prstGeom prst="rect">
            <a:avLst/>
          </a:prstGeom>
          <a:noFill/>
        </p:spPr>
        <p:txBody>
          <a:bodyPr wrap="square" rtlCol="0">
            <a:spAutoFit/>
          </a:bodyPr>
          <a:lstStyle/>
          <a:p>
            <a:pPr marL="457200" indent="-457200" algn="just">
              <a:lnSpc>
                <a:spcPts val="3937"/>
              </a:lnSpc>
              <a:buFont typeface="Arial" panose="020B0604020202020204" pitchFamily="34" charset="0"/>
              <a:buChar char="•"/>
            </a:pPr>
            <a:r>
              <a:rPr lang="en-US" sz="2812" b="1" dirty="0">
                <a:solidFill>
                  <a:srgbClr val="000000"/>
                </a:solidFill>
                <a:latin typeface="Century Gothic Paneuropean Bold"/>
                <a:ea typeface="Century Gothic Paneuropean Bold"/>
                <a:cs typeface="Century Gothic Paneuropean Bold"/>
                <a:sym typeface="Century Gothic Paneuropean Bold"/>
              </a:rPr>
              <a:t>Research Paper : </a:t>
            </a:r>
          </a:p>
          <a:p>
            <a:pPr algn="just">
              <a:lnSpc>
                <a:spcPts val="3937"/>
              </a:lnSpc>
            </a:pPr>
            <a:r>
              <a:rPr lang="en-US" sz="2812" b="1" dirty="0">
                <a:solidFill>
                  <a:srgbClr val="000000"/>
                </a:solidFill>
                <a:latin typeface="Century Gothic Paneuropean Bold"/>
                <a:ea typeface="Century Gothic Paneuropean"/>
                <a:cs typeface="Century Gothic Paneuropean Bold"/>
                <a:sym typeface="Century Gothic Paneuropean Bold"/>
              </a:rPr>
              <a:t>	</a:t>
            </a:r>
            <a:r>
              <a:rPr lang="en-US" sz="2812" dirty="0">
                <a:solidFill>
                  <a:srgbClr val="000000"/>
                </a:solidFill>
                <a:latin typeface="Century Gothic Paneuropean"/>
                <a:ea typeface="Century Gothic Paneuropean"/>
                <a:cs typeface="Century Gothic Paneuropean"/>
                <a:sym typeface="Century Gothic Paneuropean"/>
              </a:rPr>
              <a:t>Ionut-Robert Badoi and Ioan Lie “Automatic Waste Segregation System,”	International Symposium on Electronics and Telecommunications (ISETC),2022</a:t>
            </a:r>
            <a:r>
              <a:rPr lang="en-US" sz="2812" b="1" dirty="0">
                <a:solidFill>
                  <a:srgbClr val="000000"/>
                </a:solidFill>
                <a:latin typeface="Century Gothic Paneuropean Bold"/>
                <a:ea typeface="Century Gothic Paneuropean Bold"/>
                <a:cs typeface="Century Gothic Paneuropean Bold"/>
                <a:sym typeface="Century Gothic Paneuropean Bold"/>
              </a:rPr>
              <a:t>	 </a:t>
            </a:r>
          </a:p>
          <a:p>
            <a:pPr marL="457200" indent="-457200" algn="just">
              <a:lnSpc>
                <a:spcPts val="3937"/>
              </a:lnSpc>
              <a:buFont typeface="Arial" panose="020B0604020202020204" pitchFamily="34" charset="0"/>
              <a:buChar char="•"/>
            </a:pPr>
            <a:r>
              <a:rPr lang="en-US" sz="2812" b="1" dirty="0">
                <a:solidFill>
                  <a:srgbClr val="000000"/>
                </a:solidFill>
                <a:latin typeface="Century Gothic Paneuropean Bold"/>
                <a:ea typeface="Century Gothic Paneuropean Bold"/>
                <a:cs typeface="Century Gothic Paneuropean Bold"/>
                <a:sym typeface="Century Gothic Paneuropean Bold"/>
              </a:rPr>
              <a:t>Kaggle Data Sets : </a:t>
            </a:r>
          </a:p>
          <a:p>
            <a:pPr algn="just">
              <a:lnSpc>
                <a:spcPts val="3937"/>
              </a:lnSpc>
            </a:pPr>
            <a:r>
              <a:rPr lang="en-US" sz="2812" b="1" dirty="0">
                <a:solidFill>
                  <a:srgbClr val="000000"/>
                </a:solidFill>
                <a:latin typeface="Century Gothic Paneuropean Bold"/>
                <a:ea typeface="Century Gothic Paneuropean Bold"/>
                <a:cs typeface="Century Gothic Paneuropean Bold"/>
                <a:sym typeface="Century Gothic Paneuropean Bold"/>
              </a:rPr>
              <a:t>	</a:t>
            </a:r>
            <a:r>
              <a:rPr lang="en-US" sz="2812" b="1" dirty="0">
                <a:solidFill>
                  <a:srgbClr val="000000"/>
                </a:solidFill>
                <a:latin typeface="Century Gothic Paneuropean"/>
                <a:ea typeface="Century Gothic Paneuropean"/>
                <a:cs typeface="Century Gothic Paneuropean"/>
                <a:sym typeface="Century Gothic Paneuropean"/>
                <a:hlinkClick r:id="rId4"/>
              </a:rPr>
              <a:t>https://www.kaggle.com/datasets/techsash/waste-classification-data</a:t>
            </a:r>
            <a:endParaRPr lang="en-US" sz="2812" b="1" dirty="0">
              <a:solidFill>
                <a:srgbClr val="000000"/>
              </a:solidFill>
              <a:latin typeface="Century Gothic Paneuropean"/>
              <a:ea typeface="Century Gothic Paneuropean"/>
              <a:cs typeface="Century Gothic Paneuropean"/>
              <a:sym typeface="Century Gothic Paneuropean"/>
            </a:endParaRPr>
          </a:p>
          <a:p>
            <a:pPr algn="just">
              <a:lnSpc>
                <a:spcPts val="3937"/>
              </a:lnSpc>
            </a:pPr>
            <a:r>
              <a:rPr lang="en-US" sz="2812" b="1" dirty="0">
                <a:solidFill>
                  <a:srgbClr val="000000"/>
                </a:solidFill>
                <a:latin typeface="Century Gothic Paneuropean"/>
                <a:ea typeface="Century Gothic Paneuropean Bold"/>
                <a:cs typeface="Century Gothic Paneuropean"/>
                <a:sym typeface="Century Gothic Paneuropean"/>
              </a:rPr>
              <a:t>	</a:t>
            </a:r>
            <a:r>
              <a:rPr lang="en-US" sz="2812" b="1" dirty="0">
                <a:solidFill>
                  <a:srgbClr val="000000"/>
                </a:solidFill>
                <a:latin typeface="Century Gothic Paneuropean"/>
                <a:ea typeface="Century Gothic Paneuropean Bold"/>
                <a:cs typeface="Century Gothic Paneuropean"/>
                <a:sym typeface="Century Gothic Paneuropean"/>
                <a:hlinkClick r:id="rId5"/>
              </a:rPr>
              <a:t>https://www.kaggle.com/datasets/sumn2u/garbage-classification-v2</a:t>
            </a:r>
            <a:endParaRPr lang="en-US" sz="2812" b="1" dirty="0">
              <a:solidFill>
                <a:srgbClr val="000000"/>
              </a:solidFill>
              <a:latin typeface="Century Gothic Paneuropean"/>
              <a:ea typeface="Century Gothic Paneuropean Bold"/>
              <a:cs typeface="Century Gothic Paneuropean"/>
              <a:sym typeface="Century Gothic Paneuropean"/>
            </a:endParaRPr>
          </a:p>
          <a:p>
            <a:pPr marL="457200" indent="-457200" algn="just">
              <a:lnSpc>
                <a:spcPts val="3937"/>
              </a:lnSpc>
              <a:buFont typeface="Arial" panose="020B0604020202020204" pitchFamily="34" charset="0"/>
              <a:buChar char="•"/>
            </a:pPr>
            <a:endParaRPr lang="en-US" sz="2812" b="1" dirty="0">
              <a:solidFill>
                <a:srgbClr val="000000"/>
              </a:solidFill>
              <a:latin typeface="Century Gothic Paneuropean"/>
              <a:ea typeface="Century Gothic Paneuropean Bold"/>
              <a:cs typeface="Century Gothic Paneuropean"/>
              <a:sym typeface="Century Gothic Paneuropean"/>
            </a:endParaRPr>
          </a:p>
        </p:txBody>
      </p:sp>
      <p:sp>
        <p:nvSpPr>
          <p:cNvPr id="13" name="Slide Number Placeholder 12">
            <a:extLst>
              <a:ext uri="{FF2B5EF4-FFF2-40B4-BE49-F238E27FC236}">
                <a16:creationId xmlns:a16="http://schemas.microsoft.com/office/drawing/2014/main" id="{A18392B6-F590-B16D-6B51-5695E3D51055}"/>
              </a:ext>
            </a:extLst>
          </p:cNvPr>
          <p:cNvSpPr>
            <a:spLocks noGrp="1"/>
          </p:cNvSpPr>
          <p:nvPr>
            <p:ph type="sldNum" sz="quarter" idx="12"/>
          </p:nvPr>
        </p:nvSpPr>
        <p:spPr>
          <a:xfrm>
            <a:off x="15125700" y="9294057"/>
            <a:ext cx="2133600" cy="365125"/>
          </a:xfrm>
        </p:spPr>
        <p:txBody>
          <a:bodyPr/>
          <a:lstStyle/>
          <a:p>
            <a:fld id="{B6F15528-21DE-4FAA-801E-634DDDAF4B2B}" type="slidenum">
              <a:rPr lang="en-US" smtClean="0"/>
              <a:pPr/>
              <a:t>9</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0481" y="4013348"/>
            <a:ext cx="12387037" cy="2031703"/>
          </a:xfrm>
          <a:prstGeom prst="rect">
            <a:avLst/>
          </a:prstGeom>
        </p:spPr>
        <p:txBody>
          <a:bodyPr lIns="0" tIns="0" rIns="0" bIns="0" rtlCol="0" anchor="t">
            <a:spAutoFit/>
          </a:bodyPr>
          <a:lstStyle/>
          <a:p>
            <a:pPr algn="ctr">
              <a:lnSpc>
                <a:spcPts val="16641"/>
              </a:lnSpc>
            </a:pPr>
            <a:r>
              <a:rPr lang="en-US" sz="11886" b="1">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txBody>
            <a:bodyPr/>
            <a:lstStyle/>
            <a:p>
              <a:endParaRPr lang="en-IN"/>
            </a:p>
          </p:txBody>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txBody>
            <a:bodyPr/>
            <a:lstStyle/>
            <a:p>
              <a:endParaRPr lang="en-IN"/>
            </a:p>
          </p:txBody>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Slide Number Placeholder 13">
            <a:extLst>
              <a:ext uri="{FF2B5EF4-FFF2-40B4-BE49-F238E27FC236}">
                <a16:creationId xmlns:a16="http://schemas.microsoft.com/office/drawing/2014/main" id="{675B2B3D-B6B2-FDB8-B056-36AFBB15C06E}"/>
              </a:ext>
            </a:extLst>
          </p:cNvPr>
          <p:cNvSpPr>
            <a:spLocks noGrp="1"/>
          </p:cNvSpPr>
          <p:nvPr>
            <p:ph type="sldNum" sz="quarter" idx="12"/>
          </p:nvPr>
        </p:nvSpPr>
        <p:spPr>
          <a:xfrm>
            <a:off x="15125700" y="9294057"/>
            <a:ext cx="2133600" cy="365125"/>
          </a:xfrm>
        </p:spPr>
        <p:txBody>
          <a:bodyPr/>
          <a:lstStyle/>
          <a:p>
            <a:fld id="{B6F15528-21DE-4FAA-801E-634DDDAF4B2B}" type="slidenum">
              <a:rPr lang="en-US" smtClean="0"/>
              <a:pPr/>
              <a:t>10</a:t>
            </a:fld>
            <a:endParaRPr lang="en-US" dirty="0"/>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advTm="2000">
        <p159:morph option="byObject"/>
      </p:transition>
    </mc:Choice>
    <mc:Fallback>
      <p:transition spd="slow" advTm="2000">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1100</TotalTime>
  <Words>448</Words>
  <Application>Microsoft Office PowerPoint</Application>
  <PresentationFormat>Custom</PresentationFormat>
  <Paragraphs>67</Paragraphs>
  <Slides>10</Slides>
  <Notes>0</Notes>
  <HiddenSlides>0</HiddenSlides>
  <MMClips>0</MMClips>
  <ScaleCrop>false</ScaleCrop>
  <HeadingPairs>
    <vt:vector size="8" baseType="variant">
      <vt:variant>
        <vt:lpstr>Fonts Used</vt:lpstr>
      </vt:variant>
      <vt:variant>
        <vt:i4>5</vt:i4>
      </vt:variant>
      <vt:variant>
        <vt:lpstr>Theme</vt:lpstr>
      </vt:variant>
      <vt:variant>
        <vt:i4>1</vt:i4>
      </vt:variant>
      <vt:variant>
        <vt:lpstr>Slide Titles</vt:lpstr>
      </vt:variant>
      <vt:variant>
        <vt:i4>10</vt:i4>
      </vt:variant>
      <vt:variant>
        <vt:lpstr>Custom Shows</vt:lpstr>
      </vt:variant>
      <vt:variant>
        <vt:i4>1</vt:i4>
      </vt:variant>
    </vt:vector>
  </HeadingPairs>
  <TitlesOfParts>
    <vt:vector size="17" baseType="lpstr">
      <vt:lpstr>Century Gothic Paneuropean Bold</vt:lpstr>
      <vt:lpstr>Century Gothic Paneuropean</vt:lpstr>
      <vt:lpstr>Canva Sans</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cp:lastModifiedBy>Chetan Ingali</cp:lastModifiedBy>
  <cp:revision>136</cp:revision>
  <dcterms:created xsi:type="dcterms:W3CDTF">2006-08-16T00:00:00Z</dcterms:created>
  <dcterms:modified xsi:type="dcterms:W3CDTF">2025-12-02T02:06:51Z</dcterms:modified>
  <dc:identifier>DAGrghm8pY4</dc:identifier>
</cp:coreProperties>
</file>